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2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0972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Digital Independence</a:t>
            </a:r>
            <a:br/>
            <a:r>
              <a:t>using Open Source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00D28A"/>
                </a:solidFill>
                <a:latin typeface="Calibri"/>
              </a:defRPr>
            </a:pPr>
            <a:r>
              <a:t>Trainer Guide  —  Level 1: Beginner Linux Course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91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A zero-to-expert curriculum for low-resource classrooms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029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7 Episodes  ●  20 minutes each  ●  Offline-first  ●  Free &amp; open source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2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8A"/>
                </a:solidFill>
                <a:latin typeface="Calibri"/>
              </a:defRPr>
            </a:pPr>
            <a:r>
              <a:t>Our 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▸ Open source is our vehicle to share knowledge, build skills, and teach those with limited resources to participate and prosper.</a:t>
            </a:r>
          </a:p>
          <a:p>
            <a:pPr>
              <a:spcAft>
                <a:spcPts val="60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▸ This curriculum is free, public, and forever free. Licensed under CC BY-SA.</a:t>
            </a:r>
          </a:p>
          <a:p>
            <a:pPr>
              <a:spcAft>
                <a:spcPts val="60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▸ Every student with an old laptop, unstable internet, or no money for licenses is exactly who this serves.</a:t>
            </a:r>
          </a:p>
          <a:p>
            <a:pPr>
              <a:spcAft>
                <a:spcPts val="60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▸ Teachers are encouraged to copy, modify, translate, and teach this anywhere in the world.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572000"/>
            <a:ext cx="10972800" cy="137160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7548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8C00"/>
                </a:solidFill>
                <a:latin typeface="Calibri"/>
              </a:defRPr>
            </a:pPr>
            <a:r>
              <a:t>Special thanks to: Linux Mint &amp; XFCE teams  ●  Debian project &amp; Ubuntu community  ●  GNU project  ●  Every open-source maintainer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2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8A"/>
                </a:solidFill>
                <a:latin typeface="Calibri"/>
              </a:defRPr>
            </a:pPr>
            <a:r>
              <a:t>Career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10972800" cy="100584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8A"/>
                </a:solidFill>
                <a:latin typeface="Calibri"/>
              </a:defRPr>
            </a:pPr>
            <a:r>
              <a:t>PREREQUISITE DOORWAY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155448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Digital Independence</a:t>
            </a:r>
            <a:br/>
            <a:r>
              <a:t>(Linux CLI Fundamentals)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155448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8C00"/>
                </a:solidFill>
                <a:latin typeface="Calibri"/>
              </a:defRPr>
            </a:pPr>
            <a:r>
              <a:t>You Are 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2286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D28A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743200"/>
            <a:ext cx="10972800" cy="100584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83464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CCCCC"/>
                </a:solidFill>
                <a:latin typeface="Calibri"/>
              </a:defRPr>
            </a:pPr>
            <a:r>
              <a:t>LEVEL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83464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Desktop Mapping</a:t>
            </a:r>
            <a:br/>
            <a:r>
              <a:t>QGIS, Vector &amp; Raster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283464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8C00"/>
                </a:solidFill>
                <a:latin typeface="Calibri"/>
              </a:defRPr>
            </a:pPr>
            <a:r>
              <a:t>Coming Next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35661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D28A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023360"/>
            <a:ext cx="10972800" cy="100584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11480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CCCCC"/>
                </a:solidFill>
                <a:latin typeface="Calibri"/>
              </a:defRPr>
            </a:pPr>
            <a:r>
              <a:t>LEVEL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411480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Python Automation</a:t>
            </a:r>
            <a:br/>
            <a:r>
              <a:t>GeoPandas, Scripting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411480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8C00"/>
                </a:solidFill>
                <a:latin typeface="Calibri"/>
              </a:defRPr>
            </a:pPr>
            <a:r>
              <a:t>Coming Next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4846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D28A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303519"/>
            <a:ext cx="10972800" cy="100584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394959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CCCCC"/>
                </a:solidFill>
                <a:latin typeface="Calibri"/>
              </a:defRPr>
            </a:pPr>
            <a:r>
              <a:t>LEVEL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5394959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Web Geography</a:t>
            </a:r>
            <a:br/>
            <a:r>
              <a:t>Folium, OpenLayers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5394959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8C00"/>
                </a:solidFill>
                <a:latin typeface="Calibri"/>
              </a:defRPr>
            </a:pPr>
            <a:r>
              <a:t>Coming Next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2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8A"/>
                </a:solidFill>
                <a:latin typeface="Calibri"/>
              </a:defRPr>
            </a:pPr>
            <a:r>
              <a:t>Course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▸ Level 1 must be completed BEFORE any other level. No exceptions.</a:t>
            </a:r>
          </a:p>
          <a:p>
            <a:pPr>
              <a:spcAft>
                <a:spcPts val="60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▸ Every episode is exactly 20 minutes: 1.5 min intro + 17 min hands-on + 1.5 min outro.</a:t>
            </a:r>
          </a:p>
          <a:p>
            <a:pPr>
              <a:spcAft>
                <a:spcPts val="60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▸ Students must complete the homework challenge before moving to the next episode.</a:t>
            </a:r>
          </a:p>
          <a:p>
            <a:pPr>
              <a:spcAft>
                <a:spcPts val="60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▸ All software, data, and materials must work 100% offline.</a:t>
            </a:r>
          </a:p>
          <a:p>
            <a:pPr>
              <a:spcAft>
                <a:spcPts val="60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▸ Terminal font must be 16pt+ with high contrast for low-resolution video viewers.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2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8A"/>
                </a:solidFill>
                <a:latin typeface="Calibri"/>
              </a:defRPr>
            </a:pPr>
            <a:r>
              <a:t>Hardware Requirements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10972800" cy="548640"/>
          </a:xfrm>
          <a:prstGeom prst="rect">
            <a:avLst/>
          </a:prstGeom>
          <a:solidFill>
            <a:srgbClr val="00D2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Calibri"/>
              </a:defRPr>
            </a:pPr>
            <a:r>
              <a:t>Component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508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Calibri"/>
              </a:defRPr>
            </a:pPr>
            <a:r>
              <a:t>Minimum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508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Calibri"/>
              </a:defRPr>
            </a:pPr>
            <a:r>
              <a:t>Recommended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03120"/>
            <a:ext cx="10972800" cy="54864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4883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14883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2 GB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14883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4 GB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743200"/>
            <a:ext cx="10972800" cy="54864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788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Storage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788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20 GB free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2788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100 GB free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383280"/>
            <a:ext cx="10972800" cy="54864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429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USB Drive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429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8 GB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3429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16 GB (for persistence)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023360"/>
            <a:ext cx="10972800" cy="54864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0690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069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Linux Mint XFCE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4069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Lubuntu / MX Linux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303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Tip: Enable USB persistence so student work survives reboots.</a:t>
            </a:r>
            <a:br/>
            <a:r>
              <a:t>Use Rufus (Windows) or Balena Etcher (Mac/Linux) to create bootable drives.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00D2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Episode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CCCCC"/>
                </a:solidFill>
                <a:latin typeface="Calibri"/>
              </a:defRPr>
            </a:pPr>
            <a:r>
              <a:t>7 episodes  ●  20 min each  ●  Level 1: Digital Independence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2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097280" cy="1097280"/>
          </a:xfrm>
          <a:prstGeom prst="rect">
            <a:avLst/>
          </a:prstGeom>
          <a:solidFill>
            <a:srgbClr val="00D2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4400" b="1">
                <a:solidFill>
                  <a:srgbClr val="1A1A2E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36576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8A"/>
                </a:solidFill>
                <a:latin typeface="Calibri"/>
              </a:defRPr>
            </a:pPr>
            <a:r>
              <a:t>Episode 1: The Digital Rebirth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188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Duration: 20 min  |  1.5+17+2 format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Calibri"/>
              </a:defRPr>
            </a:pPr>
            <a:r>
              <a:t>KEY CONCEPTS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603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▸ Why leave Windows/Mac?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▸ FOSS philosophy (the recipe analogy)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▸ free -h: check memory usage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▸ df -h: check storage usage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2011680"/>
            <a:ext cx="5029200" cy="182880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2194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Calibri"/>
              </a:defRPr>
            </a:pPr>
            <a:r>
              <a:t>HANDS-ON DELIVERABLE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7432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Boot Linux from USB. Run free -h and df -h. Record your baseline metrics.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4206240"/>
            <a:ext cx="5029200" cy="182880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4389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Calibri"/>
              </a:defRPr>
            </a:pPr>
            <a:r>
              <a:t>HOMEWORK CHALLENGE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2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097280" cy="1097280"/>
          </a:xfrm>
          <a:prstGeom prst="rect">
            <a:avLst/>
          </a:prstGeom>
          <a:solidFill>
            <a:srgbClr val="00D2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4400" b="1">
                <a:solidFill>
                  <a:srgbClr val="1A1A2E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36576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8A"/>
                </a:solidFill>
                <a:latin typeface="Calibri"/>
              </a:defRPr>
            </a:pPr>
            <a:r>
              <a:t>Episode 2: The Digital Scout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188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Duration: 20 min  |  1.5+17+2 format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Calibri"/>
              </a:defRPr>
            </a:pPr>
            <a:r>
              <a:t>KEY CONCEPTS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603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▸ pwd: where am I?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▸ ls / ls -F: what is here?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▸ cd: navigate folders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▸ Tab key autocomplete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▸ Maze game navigation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2011680"/>
            <a:ext cx="5029200" cy="182880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2194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Calibri"/>
              </a:defRPr>
            </a:pPr>
            <a:r>
              <a:t>HANDS-ON DELIVERABLE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7432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Navigate the Episode2_Maze using only cd and ls. Find the treasure.txt password.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4206240"/>
            <a:ext cx="5029200" cy="182880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4389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Calibri"/>
              </a:defRPr>
            </a:pPr>
            <a:r>
              <a:t>HOMEWORK CHALLENGE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2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097280" cy="1097280"/>
          </a:xfrm>
          <a:prstGeom prst="rect">
            <a:avLst/>
          </a:prstGeom>
          <a:solidFill>
            <a:srgbClr val="00D2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4400" b="1">
                <a:solidFill>
                  <a:srgbClr val="1A1A2E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36576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8A"/>
                </a:solidFill>
                <a:latin typeface="Calibri"/>
              </a:defRPr>
            </a:pPr>
            <a:r>
              <a:t>Episode 3: The Digital Architect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188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Duration: 20 min  |  1.5+17+2 format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Calibri"/>
              </a:defRPr>
            </a:pPr>
            <a:r>
              <a:t>KEY CONCEPTS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603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▸ mkdir: create folders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▸ touch: create empty files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▸ nano: terminal text editor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▸ cat / less: read files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2011680"/>
            <a:ext cx="5029200" cy="182880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2194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Calibri"/>
              </a:defRPr>
            </a:pPr>
            <a:r>
              <a:t>HANDS-ON DELIVERABLE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7432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Build a folder structure. Write your bio in nano. Save and exit using Ctrl+O / Ctrl+X.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4206240"/>
            <a:ext cx="5029200" cy="182880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4389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Calibri"/>
              </a:defRPr>
            </a:pPr>
            <a:r>
              <a:t>HOMEWORK CHALLENGE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2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097280" cy="1097280"/>
          </a:xfrm>
          <a:prstGeom prst="rect">
            <a:avLst/>
          </a:prstGeom>
          <a:solidFill>
            <a:srgbClr val="00D2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4400" b="1">
                <a:solidFill>
                  <a:srgbClr val="1A1A2E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36576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8A"/>
                </a:solidFill>
                <a:latin typeface="Calibri"/>
              </a:defRPr>
            </a:pPr>
            <a:r>
              <a:t>Episode 4: The Digital Commander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188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Duration: 20 min  |  1.5+17+2 format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Calibri"/>
              </a:defRPr>
            </a:pPr>
            <a:r>
              <a:t>KEY CONCEPTS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603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▸ cp: copy files safely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▸ mv: move / rename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▸ rm: delete (NO recycle bin)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▸ rm -r: delete folders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2011680"/>
            <a:ext cx="5029200" cy="182880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2194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Calibri"/>
              </a:defRPr>
            </a:pPr>
            <a:r>
              <a:t>HANDS-ON DELIVERABLE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7432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Backup report.txt to backups/. Rename to final_report.txt. Delete junk.tmp.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4206240"/>
            <a:ext cx="5029200" cy="182880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4389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Calibri"/>
              </a:defRPr>
            </a:pPr>
            <a:r>
              <a:t>HOMEWORK CHALLENGE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2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097280" cy="1097280"/>
          </a:xfrm>
          <a:prstGeom prst="rect">
            <a:avLst/>
          </a:prstGeom>
          <a:solidFill>
            <a:srgbClr val="00D2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4400" b="1">
                <a:solidFill>
                  <a:srgbClr val="1A1A2E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36576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8A"/>
                </a:solidFill>
                <a:latin typeface="Calibri"/>
              </a:defRPr>
            </a:pPr>
            <a:r>
              <a:t>Episode 5: The Software Alchemist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188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Duration: 20 min  |  1.5+17+2 format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Calibri"/>
              </a:defRPr>
            </a:pPr>
            <a:r>
              <a:t>KEY CONCEPTS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603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▸ sudo: administrator privileges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▸ dpkg -i: install local .deb files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▸ Offline package distribution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2011680"/>
            <a:ext cx="5029200" cy="182880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2194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Calibri"/>
              </a:defRPr>
            </a:pPr>
            <a:r>
              <a:t>HANDS-ON DELIVERABLE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7432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Install neofetch from a local .deb file using sudo dpkg -i. Run neofetch to verify.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4206240"/>
            <a:ext cx="5029200" cy="182880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4389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Calibri"/>
              </a:defRPr>
            </a:pPr>
            <a:r>
              <a:t>HOMEWORK CHALLENGE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2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097280" cy="1097280"/>
          </a:xfrm>
          <a:prstGeom prst="rect">
            <a:avLst/>
          </a:prstGeom>
          <a:solidFill>
            <a:srgbClr val="00D2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4400" b="1">
                <a:solidFill>
                  <a:srgbClr val="1A1A2E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36576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8A"/>
                </a:solidFill>
                <a:latin typeface="Calibri"/>
              </a:defRPr>
            </a:pPr>
            <a:r>
              <a:t>Episode 6: The System Savior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188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Duration: 20 min  |  1.5+17+2 format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Calibri"/>
              </a:defRPr>
            </a:pPr>
            <a:r>
              <a:t>KEY CONCEPTS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603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▸ htop / top: real-time process viewer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▸ PID: Process ID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▸ pkill: kill by name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▸ kill -9: nuclear force quit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2011680"/>
            <a:ext cx="5029200" cy="182880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2194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Calibri"/>
              </a:defRPr>
            </a:pPr>
            <a:r>
              <a:t>HANDS-ON DELIVERABLE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7432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Run htop, identify top 3 memory processes. Kill a harmless app with pkill.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4206240"/>
            <a:ext cx="5029200" cy="182880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4389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Calibri"/>
              </a:defRPr>
            </a:pPr>
            <a:r>
              <a:t>HOMEWORK CHALLENGE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2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097280" cy="1097280"/>
          </a:xfrm>
          <a:prstGeom prst="rect">
            <a:avLst/>
          </a:prstGeom>
          <a:solidFill>
            <a:srgbClr val="00D2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4400" b="1">
                <a:solidFill>
                  <a:srgbClr val="1A1A2E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36576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8A"/>
                </a:solidFill>
                <a:latin typeface="Calibri"/>
              </a:defRPr>
            </a:pPr>
            <a:r>
              <a:t>Episode 7: Bonus: Automation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188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Duration: 20 min  |  1.5+17+2 format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Calibri"/>
              </a:defRPr>
            </a:pPr>
            <a:r>
              <a:t>KEY CONCEPTS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603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▸ #!/bin/bash: the shebang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▸ chmod +x: make executable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▸ echo: print text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▸ &gt;: redirect output to file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2011680"/>
            <a:ext cx="5029200" cy="182880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2194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Calibri"/>
              </a:defRPr>
            </a:pPr>
            <a:r>
              <a:t>HANDS-ON DELIVERABLE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7432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Write system_guard.sh. Run it. Modify it to save a report file.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4206240"/>
            <a:ext cx="5029200" cy="182880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4389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Calibri"/>
              </a:defRPr>
            </a:pPr>
            <a:r>
              <a:t>HOMEWORK CHALLENGE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2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8A"/>
                </a:solidFill>
                <a:latin typeface="Calibri"/>
              </a:defRPr>
            </a:pPr>
            <a:r>
              <a:t>Recording Tips for YouTube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▸ Terminal font: 16pt or higher, monospace (Ubuntu Mono or Monospace Bold)</a:t>
            </a: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▸ Theme: White text on black background (minimizes glare on cheap screens)</a:t>
            </a: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▸ Zoom in to 150-200% so text is legible even at 360p playback</a:t>
            </a: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▸ Record at 1080p, export at 720p for small file sizes (under 100 MB per episode)</a:t>
            </a: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▸ Run clear before every demo section for a clean slate</a:t>
            </a: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▸ Add YouTube chapter markers in each video description</a:t>
            </a: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▸ Hide desktop icons and close all other windows before recording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2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8A"/>
                </a:solidFill>
                <a:latin typeface="Calibri"/>
              </a:defRPr>
            </a:pPr>
            <a:r>
              <a:t>Offline Classroom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▸ Download Linux Mint XFCE ISO and create bootable USBs (enable persistence)</a:t>
            </a: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▸ Pre-download packages: sudo apt-get install --download-only neofetch htop</a:t>
            </a: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▸ Copy .deb files from /var/cache/apt/archives/ to each student's machine</a:t>
            </a: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▸ Run setup_script.sh to create the classroom folder with maze + sandbox</a:t>
            </a: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▸ Print laminated cheat sheets for pwd, ls, cd, cp, mv, rm, nano shortcuts</a:t>
            </a: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▸ Test everything offline before class begins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8C00"/>
                </a:solidFill>
                <a:latin typeface="Calibri"/>
              </a:defRPr>
            </a:pPr>
            <a:r>
              <a:t>Pro tip: One internet-connected machine can serve an entire off-grid classroom via USB distribution.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2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8A"/>
                </a:solidFill>
                <a:latin typeface="Calibri"/>
              </a:defRPr>
            </a:pPr>
            <a:r>
              <a:t>Episode Prerequisites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▸ Ep 1: Bootable Linux USB ready for each student</a:t>
            </a: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▸ Ep 2: Run setup_script.sh to create the Maze directories</a:t>
            </a: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▸ Ep 3: Episode 2 completed by all students</a:t>
            </a: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▸ Ep 4: Episode 3 completed by all students</a:t>
            </a: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▸ Ep 5: .deb package files copied to scripts/packages/</a:t>
            </a: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▸ Ep 6: htop installed (include in pre-downloaded packages)</a:t>
            </a: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▸ Bonus: check_homework.sh ready to grade final exam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2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8A"/>
                </a:solidFill>
                <a:latin typeface="Calibri"/>
              </a:defRPr>
            </a:pPr>
            <a:r>
              <a:t>Thank You &amp; Keep Building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▸ This curriculum is dedicated to the global open-source community.</a:t>
            </a:r>
          </a:p>
          <a:p>
            <a:pPr>
              <a:spcAft>
                <a:spcPts val="60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▸ Thousands of developers gave their time for free so knowledge would not be locked behind paywalls.</a:t>
            </a:r>
          </a:p>
          <a:p>
            <a:pPr>
              <a:spcAft>
                <a:spcPts val="60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▸ You are now part of that community. When you help someone else learn, you continue the chain.</a:t>
            </a:r>
          </a:p>
          <a:p>
            <a:pPr>
              <a:spcAft>
                <a:spcPts val="60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▸ Licensed under CC BY-SA 4.0. Copy, modify, translate, teach — anywhere, any time, for free.</a:t>
            </a:r>
          </a:p>
          <a:p>
            <a:pPr>
              <a:spcAft>
                <a:spcPts val="60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▸ </a:t>
            </a:r>
          </a:p>
          <a:p>
            <a:pPr>
              <a:spcAft>
                <a:spcPts val="60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▸ saltcotraining-geoai  ●  Digital Independence using Open Source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